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38C0-8A5F-54F9-4E0D-C4DE29A67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CE8BB-2F9B-6CCB-6C3B-110F4AF44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33D2D-D892-7D8D-1521-4C278532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6F68-A769-4F42-A963-77D63EC3F1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4E585-51A7-A1FF-04D9-DC560024B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346DD-9CCC-070E-90F1-2213D5E8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2E00-203A-4EA1-8671-D3889558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96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F7F6-E13B-1FF8-6C46-EE627458C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2835B-A436-D8F8-651F-99D6B64C7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6335C-39D2-4F11-2947-FB9EA9206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6F68-A769-4F42-A963-77D63EC3F1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5EA4-9113-8DB5-8290-6B3953A7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4C266-FFAD-3DAE-668F-80F32229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2E00-203A-4EA1-8671-D3889558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02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45F24-541A-A8B0-1311-338F4D8B2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49720-27B2-2BBF-D941-635518D34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17E5D-FBAA-913F-668A-46CC956FB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6F68-A769-4F42-A963-77D63EC3F1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4A504-F35C-9D2B-2D70-97FA814FF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A0E4E-9240-A0A6-D156-31436F0CE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2E00-203A-4EA1-8671-D3889558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0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9F8D9-F0E9-9526-DA19-96F684042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D4027-0B3C-8F7F-0DA3-E114CC321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D91246-7604-85ED-035C-865E9BB7F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3A5CB-8197-385C-37B2-48D100B4F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6F68-A769-4F42-A963-77D63EC3F1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77BC49-CF7D-0566-007D-B3B2F6ED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28DF6-A631-4C57-DD04-53315BFE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2E00-203A-4EA1-8671-D3889558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02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3FB2-8029-4C0A-6226-6EA3F6AA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9F85-0B06-B08D-72B1-C720740A0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257BA-A807-B71C-CDFC-F4286941E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F11177-EF28-C1B6-992C-0E4A9491C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5428B-8B30-0A52-81C8-A2B508CA1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E9854-F243-FED9-F1D7-DF7A68BF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6F68-A769-4F42-A963-77D63EC3F1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DFC2D-8F6E-5E67-99C4-C614ED66D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4B9503-FFE4-B028-723E-E6A971B2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2E00-203A-4EA1-8671-D3889558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3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97B4-5573-65C0-011D-98C61A702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43179-EA40-AA63-6C45-D436B9B1E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6F68-A769-4F42-A963-77D63EC3F1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90FEA-90E7-0B17-66B9-85BA8885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E6CE3-B040-3AB9-EDA2-13B4DAF8A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2E00-203A-4EA1-8671-D3889558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11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F6287B-373E-86E9-57EF-7517F4C0E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6F68-A769-4F42-A963-77D63EC3F1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6403F-E35B-238B-E754-0909232E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B11E8-3ED4-A20D-6F56-4BCE4CFD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2E00-203A-4EA1-8671-D3889558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129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68B4-8FAC-A957-D771-091D29C98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D1EE9-CB45-D802-5559-97A098DDC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72A05-D71B-39E3-37B7-7D8447088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006B1-E6D8-561F-64E1-ECF9CEC1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6F68-A769-4F42-A963-77D63EC3F1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59AD7-9F0C-D92B-62BF-18406950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6A73D-7922-0D77-9830-F4AAF902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2E00-203A-4EA1-8671-D3889558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64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4124-D11D-20E7-9384-25C55C9CB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025BB4-D0AE-A8E5-CFD6-CFD32B628A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153DB-CB79-0763-D789-9EC07F4CD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63020-E3C7-7FA7-69D8-3BA301A46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6F68-A769-4F42-A963-77D63EC3F1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A7BB3-18A5-0192-F9FD-6AAD8D5D9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CF2D6-01D8-0475-B17F-2B9DC85F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2E00-203A-4EA1-8671-D3889558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8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28856-19D4-D92D-0C2A-D87F6CCB4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485F0-B979-7DC1-59DD-5C3D3ABCD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C141E-74D4-502A-F80E-66671B0B5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6F68-A769-4F42-A963-77D63EC3F1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0EE74-4AD2-1788-05C2-C92D6AF4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FC849-A28D-9A7D-3EB9-7CE9B70B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2E00-203A-4EA1-8671-D3889558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39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F6DC4B-2602-EC63-3801-C6FB640FBF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EA6C53-7398-F4FF-FFE3-67033BD7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E198D-8C56-865C-997E-699F036A7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C6F68-A769-4F42-A963-77D63EC3F1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0DC8-98B8-8A5B-3135-5B213454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2CE2E-39B2-1DC5-1313-371E2923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A2E00-203A-4EA1-8671-D3889558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7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031FD6-1AA9-5B4F-C674-761AAD4B4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AA573-D4CB-7E17-1564-F38BDA5FD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A55C4-C224-639F-F9F4-C991F5959E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C6F68-A769-4F42-A963-77D63EC3F1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3CCA5-94CA-8A0F-615F-BC9594658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DF1D5-6380-F3B2-BF52-84182B591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A2E00-203A-4EA1-8671-D38895584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6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ali17/PREDICTING-ICU-MORTALITY-USING-PATIENT-DEMOGRAPHICS-AND-DIAGNOSE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CF5225-7C6B-CBC3-D70C-682B8D23713B}"/>
              </a:ext>
            </a:extLst>
          </p:cNvPr>
          <p:cNvSpPr txBox="1"/>
          <p:nvPr/>
        </p:nvSpPr>
        <p:spPr>
          <a:xfrm>
            <a:off x="1010788" y="486500"/>
            <a:ext cx="101704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ICU MORTALITY USING PATIENT </a:t>
            </a:r>
          </a:p>
          <a:p>
            <a:pPr algn="ctr" latinLnBrk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 AND DIAGNOSES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B24D3-F8CF-04BD-8A3C-36C728714DA5}"/>
              </a:ext>
            </a:extLst>
          </p:cNvPr>
          <p:cNvSpPr txBox="1"/>
          <p:nvPr/>
        </p:nvSpPr>
        <p:spPr>
          <a:xfrm>
            <a:off x="4394247" y="2195577"/>
            <a:ext cx="3403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03/16/2026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D1FF6-BDF6-0089-8F2C-D8F8251A74A1}"/>
              </a:ext>
            </a:extLst>
          </p:cNvPr>
          <p:cNvSpPr txBox="1"/>
          <p:nvPr/>
        </p:nvSpPr>
        <p:spPr>
          <a:xfrm>
            <a:off x="395140" y="3518652"/>
            <a:ext cx="11401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Link: </a:t>
            </a:r>
          </a:p>
          <a:p>
            <a:pPr algn="ctr" latinLnBrk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https://github.com/aali17/PREDICTING-ICU-MORTALITY-USING-PATIENT-DEMOGRAPHICS-AND-DIAGNOSES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C0A7A6-B6C7-7E36-B6B6-4B7DC2FFA7AB}"/>
              </a:ext>
            </a:extLst>
          </p:cNvPr>
          <p:cNvSpPr txBox="1"/>
          <p:nvPr/>
        </p:nvSpPr>
        <p:spPr>
          <a:xfrm>
            <a:off x="590387" y="4673731"/>
            <a:ext cx="1069587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Notes: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to the tutorial of predicting ICU mortality using patient demographics and diagnoses data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use MIMIC IV demo dataset for this tutorial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codes are written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and available in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 provided</a:t>
            </a:r>
          </a:p>
        </p:txBody>
      </p:sp>
    </p:spTree>
    <p:extLst>
      <p:ext uri="{BB962C8B-B14F-4D97-AF65-F5344CB8AC3E}">
        <p14:creationId xmlns:p14="http://schemas.microsoft.com/office/powerpoint/2010/main" val="2306780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32B9-4BB1-A788-03D7-0783D58CA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8666"/>
          </a:xfrm>
        </p:spPr>
        <p:txBody>
          <a:bodyPr>
            <a:normAutofit fontScale="90000"/>
          </a:bodyPr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E70D7-741B-388E-9CE4-8622B2621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3121"/>
            <a:ext cx="10515600" cy="3071191"/>
          </a:xfrm>
        </p:spPr>
        <p:txBody>
          <a:bodyPr/>
          <a:lstStyle/>
          <a:p>
            <a:r>
              <a:rPr lang="en-US" dirty="0"/>
              <a:t>Load and merge MIMIC IV tables</a:t>
            </a:r>
          </a:p>
          <a:p>
            <a:r>
              <a:rPr lang="en-US" dirty="0"/>
              <a:t>Create an ICU patient cohort</a:t>
            </a:r>
          </a:p>
          <a:p>
            <a:r>
              <a:rPr lang="en-US" dirty="0"/>
              <a:t>Extract features from diagnosis codes</a:t>
            </a:r>
          </a:p>
          <a:p>
            <a:r>
              <a:rPr lang="en-US" dirty="0"/>
              <a:t>Build and compare ML models</a:t>
            </a:r>
          </a:p>
          <a:p>
            <a:r>
              <a:rPr lang="en-US" dirty="0"/>
              <a:t>Handle class imbalance in medical data</a:t>
            </a:r>
          </a:p>
          <a:p>
            <a:r>
              <a:rPr lang="en-US" dirty="0"/>
              <a:t>Interpret results clinically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FA5203-635B-81C9-4407-D781E4DEA821}"/>
              </a:ext>
            </a:extLst>
          </p:cNvPr>
          <p:cNvSpPr txBox="1"/>
          <p:nvPr/>
        </p:nvSpPr>
        <p:spPr>
          <a:xfrm>
            <a:off x="838200" y="4693186"/>
            <a:ext cx="955742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Notes: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tutorial will help with hands on learning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focus will be on the demographics (age and gender) and diagnoses (ICD codes)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end of this tutorial, you will learn how to create a mortality prediction model</a:t>
            </a:r>
          </a:p>
        </p:txBody>
      </p:sp>
    </p:spTree>
    <p:extLst>
      <p:ext uri="{BB962C8B-B14F-4D97-AF65-F5344CB8AC3E}">
        <p14:creationId xmlns:p14="http://schemas.microsoft.com/office/powerpoint/2010/main" val="637475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D6088-FC04-FB04-3E53-C435FDEB7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7D030-EA67-865E-6609-9877FE227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8666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Dataset: MIMIC-IV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952FC-36BB-0E36-6F76-26D3E2507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3121"/>
            <a:ext cx="10515600" cy="307119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Files used in this tutorial:</a:t>
            </a:r>
          </a:p>
          <a:p>
            <a:pPr latinLnBrk="1"/>
            <a:r>
              <a:rPr lang="en-US" dirty="0"/>
              <a:t>patients.csv (Demographics - age, gender)</a:t>
            </a:r>
          </a:p>
          <a:p>
            <a:pPr latinLnBrk="1"/>
            <a:r>
              <a:rPr lang="en-US" dirty="0"/>
              <a:t>admissions.csv (Mortality outcome) </a:t>
            </a:r>
          </a:p>
          <a:p>
            <a:pPr latinLnBrk="1"/>
            <a:r>
              <a:rPr lang="en-US" dirty="0"/>
              <a:t>icustays.csv (ICU stay identification) </a:t>
            </a:r>
          </a:p>
          <a:p>
            <a:pPr latinLnBrk="1"/>
            <a:r>
              <a:rPr lang="en-US" dirty="0"/>
              <a:t>diagnoses_icd.csv (Diagnosis codes) </a:t>
            </a:r>
          </a:p>
          <a:p>
            <a:pPr latinLnBrk="1"/>
            <a:r>
              <a:rPr lang="en-US" dirty="0"/>
              <a:t>d_icd_diagnoses.csv (Code descriptions)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2813D2-21A0-D373-1932-619ACDB4A068}"/>
              </a:ext>
            </a:extLst>
          </p:cNvPr>
          <p:cNvSpPr txBox="1"/>
          <p:nvPr/>
        </p:nvSpPr>
        <p:spPr>
          <a:xfrm>
            <a:off x="838200" y="4693186"/>
            <a:ext cx="9033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Notes: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MIMIC-IV Demo dataset is used which is perfect for learning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analysis is performed to keep the tutorial easy to understand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your own work, you can use the MIMIC-IV dataset to perform rigorous analysis</a:t>
            </a:r>
          </a:p>
        </p:txBody>
      </p:sp>
    </p:spTree>
    <p:extLst>
      <p:ext uri="{BB962C8B-B14F-4D97-AF65-F5344CB8AC3E}">
        <p14:creationId xmlns:p14="http://schemas.microsoft.com/office/powerpoint/2010/main" val="3716891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34825-6DAA-F835-9A55-0FD404F25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E159-2767-4976-CA0F-DE83D7E6F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8666"/>
          </a:xfrm>
        </p:spPr>
        <p:txBody>
          <a:bodyPr>
            <a:normAutofit fontScale="90000"/>
          </a:bodyPr>
          <a:lstStyle/>
          <a:p>
            <a:r>
              <a:rPr lang="en-US" dirty="0"/>
              <a:t>ICU Cohort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E2E9-158F-3048-C38D-22DF58AF4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3121"/>
            <a:ext cx="4375826" cy="19702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Basic Statistics:</a:t>
            </a:r>
          </a:p>
          <a:p>
            <a:pPr latinLnBrk="1"/>
            <a:r>
              <a:rPr lang="en-US" dirty="0"/>
              <a:t>Total ICU stays: 140</a:t>
            </a:r>
          </a:p>
          <a:p>
            <a:pPr latinLnBrk="1"/>
            <a:r>
              <a:rPr lang="en-US" dirty="0"/>
              <a:t>Unique patients: 100</a:t>
            </a:r>
          </a:p>
          <a:p>
            <a:pPr latinLnBrk="1"/>
            <a:r>
              <a:rPr lang="en-US" dirty="0"/>
              <a:t>ICU mortality rate: 14.3%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C02FB-33A2-E13F-7216-A991E27F58F3}"/>
              </a:ext>
            </a:extLst>
          </p:cNvPr>
          <p:cNvSpPr txBox="1"/>
          <p:nvPr/>
        </p:nvSpPr>
        <p:spPr>
          <a:xfrm>
            <a:off x="838200" y="4700783"/>
            <a:ext cx="713849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Notes: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patient population and ICU unit distribution is shown above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ICU mortality rate is 14.3%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patients in the ICU are at old age, mean is 62 years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A41446E-2AE6-A6E6-03AF-20D24FF3A1A2}"/>
              </a:ext>
            </a:extLst>
          </p:cNvPr>
          <p:cNvSpPr txBox="1">
            <a:spLocks/>
          </p:cNvSpPr>
          <p:nvPr/>
        </p:nvSpPr>
        <p:spPr>
          <a:xfrm>
            <a:off x="5502611" y="1123120"/>
            <a:ext cx="6413771" cy="346833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ICU Unit Distribution::</a:t>
            </a:r>
          </a:p>
          <a:p>
            <a:pPr latinLnBrk="1"/>
            <a:r>
              <a:rPr lang="en-US" sz="3600" dirty="0"/>
              <a:t>Surgical Intensive Care Unit (SICU)                 	         29</a:t>
            </a:r>
          </a:p>
          <a:p>
            <a:pPr latinLnBrk="1"/>
            <a:r>
              <a:rPr lang="en-US" sz="3600" dirty="0"/>
              <a:t>Medical Intensive Care Unit (MICU)                                    29</a:t>
            </a:r>
          </a:p>
          <a:p>
            <a:pPr latinLnBrk="1"/>
            <a:r>
              <a:rPr lang="en-US" sz="3600" dirty="0"/>
              <a:t>Cardiac Vascular Intensive Care Unit (CVICU)              25</a:t>
            </a:r>
          </a:p>
          <a:p>
            <a:pPr latinLnBrk="1"/>
            <a:r>
              <a:rPr lang="en-US" sz="3600" dirty="0"/>
              <a:t>Medical/Surgical Intensive Care Unit (MICU/SICU)     23</a:t>
            </a:r>
          </a:p>
          <a:p>
            <a:pPr latinLnBrk="1"/>
            <a:r>
              <a:rPr lang="en-US" sz="3600" dirty="0"/>
              <a:t>Trauma SICU (TSICU)                                                                16</a:t>
            </a:r>
          </a:p>
          <a:p>
            <a:pPr latinLnBrk="1"/>
            <a:r>
              <a:rPr lang="en-US" sz="3600" dirty="0"/>
              <a:t>Coronary Care Unit (CCU)                                                      13</a:t>
            </a:r>
          </a:p>
          <a:p>
            <a:pPr latinLnBrk="1"/>
            <a:r>
              <a:rPr lang="en-US" sz="3600" dirty="0"/>
              <a:t>Neuro Surgical Intensive Care Unit (Neuro SICU)          3</a:t>
            </a:r>
          </a:p>
          <a:p>
            <a:pPr latinLnBrk="1"/>
            <a:r>
              <a:rPr lang="en-US" sz="3600" dirty="0"/>
              <a:t>Neuro Stepdown                                                                           1</a:t>
            </a:r>
          </a:p>
          <a:p>
            <a:pPr latinLnBrk="1"/>
            <a:r>
              <a:rPr lang="en-US" sz="3600" dirty="0"/>
              <a:t>Neuro Intermediate                                                                     1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7962D5-7E54-CCA8-C8A3-74FEC9A1F2C7}"/>
              </a:ext>
            </a:extLst>
          </p:cNvPr>
          <p:cNvSpPr txBox="1">
            <a:spLocks/>
          </p:cNvSpPr>
          <p:nvPr/>
        </p:nvSpPr>
        <p:spPr>
          <a:xfrm>
            <a:off x="838200" y="3093396"/>
            <a:ext cx="4375826" cy="1225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Demographics:                                      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• Average age: 62.0 years                            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• Gender: 57% Male, 43% Female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3497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DEFB-DC5A-7DC5-7C36-32D5447C6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9C04-BB41-CAE8-9885-25A33B077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8666"/>
          </a:xfrm>
        </p:spPr>
        <p:txBody>
          <a:bodyPr>
            <a:normAutofit fontScale="90000"/>
          </a:bodyPr>
          <a:lstStyle/>
          <a:p>
            <a:r>
              <a:rPr lang="en-US" dirty="0"/>
              <a:t>Comorbidity Prevalence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46E0-E494-85E4-9593-571C783E1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025"/>
            <a:ext cx="5406957" cy="3618705"/>
          </a:xfrm>
        </p:spPr>
        <p:txBody>
          <a:bodyPr>
            <a:normAutofit fontScale="77500" lnSpcReduction="20000"/>
          </a:bodyPr>
          <a:lstStyle/>
          <a:p>
            <a:pPr latinLnBrk="1"/>
            <a:r>
              <a:rPr lang="en-US" dirty="0"/>
              <a:t>hypertension: 25.7%</a:t>
            </a:r>
          </a:p>
          <a:p>
            <a:pPr latinLnBrk="1"/>
            <a:r>
              <a:rPr lang="en-US" dirty="0"/>
              <a:t>diabetes: 17.9%</a:t>
            </a:r>
          </a:p>
          <a:p>
            <a:pPr latinLnBrk="1"/>
            <a:r>
              <a:rPr lang="en-US" dirty="0" err="1"/>
              <a:t>heart_failure</a:t>
            </a:r>
            <a:r>
              <a:rPr lang="en-US" dirty="0"/>
              <a:t>: 15.0%</a:t>
            </a:r>
          </a:p>
          <a:p>
            <a:pPr latinLnBrk="1"/>
            <a:r>
              <a:rPr lang="en-US" dirty="0" err="1"/>
              <a:t>copd</a:t>
            </a:r>
            <a:r>
              <a:rPr lang="en-US" dirty="0"/>
              <a:t>: 10.7%</a:t>
            </a:r>
          </a:p>
          <a:p>
            <a:pPr latinLnBrk="1"/>
            <a:r>
              <a:rPr lang="en-US" dirty="0" err="1"/>
              <a:t>renal_failure</a:t>
            </a:r>
            <a:r>
              <a:rPr lang="en-US" dirty="0"/>
              <a:t>: 21.4%</a:t>
            </a:r>
          </a:p>
          <a:p>
            <a:pPr latinLnBrk="1"/>
            <a:r>
              <a:rPr lang="en-US" dirty="0" err="1"/>
              <a:t>liver_disease</a:t>
            </a:r>
            <a:r>
              <a:rPr lang="en-US" dirty="0"/>
              <a:t>: 5.7%</a:t>
            </a:r>
          </a:p>
          <a:p>
            <a:pPr latinLnBrk="1"/>
            <a:r>
              <a:rPr lang="en-US" dirty="0"/>
              <a:t>cancer: 2.1%</a:t>
            </a:r>
          </a:p>
          <a:p>
            <a:pPr latinLnBrk="1"/>
            <a:r>
              <a:rPr lang="en-US" dirty="0"/>
              <a:t>sepsis: 7.1%</a:t>
            </a:r>
          </a:p>
          <a:p>
            <a:pPr latinLnBrk="1"/>
            <a:r>
              <a:rPr lang="en-US" dirty="0"/>
              <a:t>pneumonia: 5.0%</a:t>
            </a:r>
          </a:p>
          <a:p>
            <a:pPr latinLnBrk="1"/>
            <a:r>
              <a:rPr lang="en-US" dirty="0"/>
              <a:t>mi: 5.7%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356810-D5D9-E732-89BC-3255DD5A4E83}"/>
              </a:ext>
            </a:extLst>
          </p:cNvPr>
          <p:cNvSpPr txBox="1"/>
          <p:nvPr/>
        </p:nvSpPr>
        <p:spPr>
          <a:xfrm>
            <a:off x="838200" y="4809919"/>
            <a:ext cx="65696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Notes: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Hypertension is most common - affects 1 in 4 ICU patients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Non-survivors have more than double the comorbidities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differences will help our model predict mortality</a:t>
            </a:r>
          </a:p>
        </p:txBody>
      </p:sp>
    </p:spTree>
    <p:extLst>
      <p:ext uri="{BB962C8B-B14F-4D97-AF65-F5344CB8AC3E}">
        <p14:creationId xmlns:p14="http://schemas.microsoft.com/office/powerpoint/2010/main" val="1194535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A183C-885D-380C-5A4E-15EF46B50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52FAC-5C1B-1DE3-347F-49EC667C6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8666"/>
          </a:xfrm>
        </p:spPr>
        <p:txBody>
          <a:bodyPr>
            <a:normAutofit fontScale="90000"/>
          </a:bodyPr>
          <a:lstStyle/>
          <a:p>
            <a:r>
              <a:rPr lang="en-US" dirty="0"/>
              <a:t>Highest Mortality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32DC1-03C2-2D2F-0F3F-506A78776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3121"/>
            <a:ext cx="10515600" cy="3071191"/>
          </a:xfrm>
        </p:spPr>
        <p:txBody>
          <a:bodyPr>
            <a:normAutofit/>
          </a:bodyPr>
          <a:lstStyle/>
          <a:p>
            <a:pPr latinLnBrk="1"/>
            <a:r>
              <a:rPr lang="en-US" dirty="0"/>
              <a:t>Cancer 		66.7%</a:t>
            </a:r>
          </a:p>
          <a:p>
            <a:pPr latinLnBrk="1"/>
            <a:r>
              <a:rPr lang="en-US" dirty="0"/>
              <a:t>Sepsis      		50.0%   </a:t>
            </a:r>
          </a:p>
          <a:p>
            <a:pPr latinLnBrk="1"/>
            <a:r>
              <a:rPr lang="en-US" dirty="0"/>
              <a:t>Heart Failure	33.3%</a:t>
            </a:r>
          </a:p>
          <a:p>
            <a:pPr latinLnBrk="1"/>
            <a:r>
              <a:rPr lang="en-US" dirty="0"/>
              <a:t>Renal Failure	30.0%</a:t>
            </a:r>
          </a:p>
          <a:p>
            <a:pPr latinLnBrk="1"/>
            <a:r>
              <a:rPr lang="en-US" dirty="0"/>
              <a:t>Pneumonia      	28.6%</a:t>
            </a:r>
          </a:p>
          <a:p>
            <a:pPr latinLnBrk="1"/>
            <a:r>
              <a:rPr lang="en-US" dirty="0"/>
              <a:t>Hypertension   	25.0%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5335A-FDE1-AEB9-9BEF-EA9B251A862F}"/>
              </a:ext>
            </a:extLst>
          </p:cNvPr>
          <p:cNvSpPr txBox="1"/>
          <p:nvPr/>
        </p:nvSpPr>
        <p:spPr>
          <a:xfrm>
            <a:off x="838200" y="4537544"/>
            <a:ext cx="639149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Notes: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 patients have the highest risk - 66.7% mortality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Sepsis is also extremely dangerous - 50% mortality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conditions are known to be life-threatening in ICU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will learn these patterns</a:t>
            </a:r>
          </a:p>
        </p:txBody>
      </p:sp>
    </p:spTree>
    <p:extLst>
      <p:ext uri="{BB962C8B-B14F-4D97-AF65-F5344CB8AC3E}">
        <p14:creationId xmlns:p14="http://schemas.microsoft.com/office/powerpoint/2010/main" val="530801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5FB00-E2E4-ED55-5B70-4607312D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97FA0-72A5-47AA-163B-CF2410BA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164"/>
            <a:ext cx="10515600" cy="648666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Performance Comparison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D668B5-CD5A-B84C-D90B-4AD6FE414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306" y="860830"/>
            <a:ext cx="6109387" cy="45627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5D4397-528A-8E48-CDD3-658AB4A1022B}"/>
              </a:ext>
            </a:extLst>
          </p:cNvPr>
          <p:cNvSpPr txBox="1"/>
          <p:nvPr/>
        </p:nvSpPr>
        <p:spPr>
          <a:xfrm>
            <a:off x="838199" y="5181562"/>
            <a:ext cx="798968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Notes: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used in this tutorial – Logistic Regression and Random Forest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performs better for this task (AUC 0.755)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is more accurate overall but misses deaths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We'll use Logistic Regression for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673912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A22A2-7909-CF2A-6960-5A1F6E83F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4C9A0-0A4C-71C3-0059-9A1295870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8666"/>
          </a:xfrm>
        </p:spPr>
        <p:txBody>
          <a:bodyPr>
            <a:normAutofit fontScale="90000"/>
          </a:bodyPr>
          <a:lstStyle/>
          <a:p>
            <a:r>
              <a:rPr lang="en-US" dirty="0"/>
              <a:t>Confusion Matrix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965E63-FA6D-5BE4-37B3-3827BFE72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047" y="0"/>
            <a:ext cx="5966185" cy="56031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118776-F2D5-2263-1DD8-FCBFBF889068}"/>
              </a:ext>
            </a:extLst>
          </p:cNvPr>
          <p:cNvSpPr txBox="1"/>
          <p:nvPr/>
        </p:nvSpPr>
        <p:spPr>
          <a:xfrm>
            <a:off x="505769" y="1378918"/>
            <a:ext cx="45331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Notes: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how our model performs on unseen test data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 test patients: 36 survivors, 6 deaths (consistent with 14% mortality)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caught 3 of 6 deaths (50% recall) - better than random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missed 3 deaths - these are the patients we'd want to identify</a:t>
            </a:r>
          </a:p>
        </p:txBody>
      </p:sp>
    </p:spTree>
    <p:extLst>
      <p:ext uri="{BB962C8B-B14F-4D97-AF65-F5344CB8AC3E}">
        <p14:creationId xmlns:p14="http://schemas.microsoft.com/office/powerpoint/2010/main" val="3542576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49F3-F26B-7DD7-5FCE-820330797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13ED8-55CA-68A8-129E-1EADFF0EA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164"/>
            <a:ext cx="10515600" cy="648666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 Importance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4C491F-B35A-87C3-C982-A52BE1B34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468" y="860830"/>
            <a:ext cx="6692552" cy="39925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AE49C9-0428-5C43-2ED9-DEB8F5453175}"/>
              </a:ext>
            </a:extLst>
          </p:cNvPr>
          <p:cNvSpPr txBox="1"/>
          <p:nvPr/>
        </p:nvSpPr>
        <p:spPr>
          <a:xfrm>
            <a:off x="727868" y="4970086"/>
            <a:ext cx="64572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Notes: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gender is strongest - but this may be dataset specific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hypertension, sepsis all strongly increase risk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Interestingly, diabetes appears protective</a:t>
            </a:r>
          </a:p>
        </p:txBody>
      </p:sp>
    </p:spTree>
    <p:extLst>
      <p:ext uri="{BB962C8B-B14F-4D97-AF65-F5344CB8AC3E}">
        <p14:creationId xmlns:p14="http://schemas.microsoft.com/office/powerpoint/2010/main" val="3726165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9B7C8-CC61-FB8D-BFD1-9ABB5AE35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CC55-2DEB-9B4A-AFD5-43A66334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8666"/>
          </a:xfrm>
        </p:spPr>
        <p:txBody>
          <a:bodyPr>
            <a:normAutofit fontScale="90000"/>
          </a:bodyPr>
          <a:lstStyle/>
          <a:p>
            <a:r>
              <a:rPr lang="en-US" dirty="0"/>
              <a:t>Clinical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5CF63-0997-5F36-EFAF-B2CB03303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0125"/>
            <a:ext cx="10515600" cy="307119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Clinical Interpretation: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Age is a strong predictor of ICU mortality - older patients have significantly higher risk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Comorbidity burden matters - each additional chronic condition increases mortality risk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Specific high-risk conditions identified:</a:t>
            </a:r>
          </a:p>
          <a:p>
            <a:pPr marL="457200" lvl="1" indent="0">
              <a:buNone/>
            </a:pPr>
            <a:r>
              <a:rPr lang="en-US" dirty="0"/>
              <a:t>   • Cancer: 5.1x higher mortality risk</a:t>
            </a:r>
          </a:p>
          <a:p>
            <a:pPr marL="457200" lvl="1" indent="0">
              <a:buNone/>
            </a:pPr>
            <a:r>
              <a:rPr lang="en-US" dirty="0"/>
              <a:t>   • Sepsis: 4.3x higher mortality risk</a:t>
            </a:r>
          </a:p>
          <a:p>
            <a:pPr marL="457200" lvl="1" indent="0">
              <a:buNone/>
            </a:pPr>
            <a:r>
              <a:rPr lang="en-US" dirty="0"/>
              <a:t>   • Heart Failure: 3.1x higher mortality 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0B7BC1-2686-8E1B-ECCB-6A0369B38E51}"/>
              </a:ext>
            </a:extLst>
          </p:cNvPr>
          <p:cNvSpPr txBox="1"/>
          <p:nvPr/>
        </p:nvSpPr>
        <p:spPr>
          <a:xfrm>
            <a:off x="838200" y="4625092"/>
            <a:ext cx="708655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Notes: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findings match clinical experience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Older, sicker patients with specific conditions are at highest risk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captures these patterns automatically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could help identify patients for intensive care need</a:t>
            </a:r>
          </a:p>
        </p:txBody>
      </p:sp>
    </p:spTree>
    <p:extLst>
      <p:ext uri="{BB962C8B-B14F-4D97-AF65-F5344CB8AC3E}">
        <p14:creationId xmlns:p14="http://schemas.microsoft.com/office/powerpoint/2010/main" val="2871961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758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Learning Objectives</vt:lpstr>
      <vt:lpstr>Dataset: MIMIC-IV Demo</vt:lpstr>
      <vt:lpstr>ICU Cohort Characteristics</vt:lpstr>
      <vt:lpstr>Comorbidity Prevalence</vt:lpstr>
      <vt:lpstr>Highest Mortality Conditions</vt:lpstr>
      <vt:lpstr>Model Performance Comparison</vt:lpstr>
      <vt:lpstr>Confusion Matrix</vt:lpstr>
      <vt:lpstr>Feature Importance</vt:lpstr>
      <vt:lpstr>Clinical Interpretation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AZAM</dc:creator>
  <cp:lastModifiedBy>Ali AZAM</cp:lastModifiedBy>
  <cp:revision>19</cp:revision>
  <dcterms:created xsi:type="dcterms:W3CDTF">2026-03-16T19:57:42Z</dcterms:created>
  <dcterms:modified xsi:type="dcterms:W3CDTF">2026-03-16T22:17:13Z</dcterms:modified>
</cp:coreProperties>
</file>